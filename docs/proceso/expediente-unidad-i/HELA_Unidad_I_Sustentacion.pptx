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34bbb09af49f1" /><Relationship Type="http://schemas.openxmlformats.org/officeDocument/2006/relationships/extended-properties" Target="/docProps/app.xml" Id="R235fcd56bc054395" /><Relationship Type="http://schemas.openxmlformats.org/officeDocument/2006/relationships/officeDocument" Target="/ppt/presentation.xml" Id="R27c644f377d9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0f277573714cb3"/>
  </p:sldMasterIdLst>
  <p:notesMasterIdLst>
    <p:notesMasterId xmlns:r="http://schemas.openxmlformats.org/officeDocument/2006/relationships" r:id="R85b36464270048d8"/>
  </p:notesMasterIdLst>
  <p:sldIdLst>
    <p:sldId xmlns:r="http://schemas.openxmlformats.org/officeDocument/2006/relationships" id="256" r:id="Rbe500f59399548cc"/>
    <p:sldId xmlns:r="http://schemas.openxmlformats.org/officeDocument/2006/relationships" id="257" r:id="R29626c531b90440d"/>
    <p:sldId xmlns:r="http://schemas.openxmlformats.org/officeDocument/2006/relationships" id="258" r:id="Rfb094b90f2cb4637"/>
    <p:sldId xmlns:r="http://schemas.openxmlformats.org/officeDocument/2006/relationships" id="259" r:id="R123e0af437234977"/>
    <p:sldId xmlns:r="http://schemas.openxmlformats.org/officeDocument/2006/relationships" id="260" r:id="Ra9ec1040a79c4040"/>
    <p:sldId xmlns:r="http://schemas.openxmlformats.org/officeDocument/2006/relationships" id="261" r:id="Ra9f6a17ed9e04ff3"/>
    <p:sldId xmlns:r="http://schemas.openxmlformats.org/officeDocument/2006/relationships" id="262" r:id="R22c57b10ffef4bc3"/>
    <p:sldId xmlns:r="http://schemas.openxmlformats.org/officeDocument/2006/relationships" id="263" r:id="Rb80fb8c73a794f5a"/>
    <p:sldId xmlns:r="http://schemas.openxmlformats.org/officeDocument/2006/relationships" id="264" r:id="R7f9d764513b24c53"/>
    <p:sldId xmlns:r="http://schemas.openxmlformats.org/officeDocument/2006/relationships" id="265" r:id="Rd49c863c0239448e"/>
    <p:sldId xmlns:r="http://schemas.openxmlformats.org/officeDocument/2006/relationships" id="266" r:id="Rc038a8386d7042f6"/>
    <p:sldId xmlns:r="http://schemas.openxmlformats.org/officeDocument/2006/relationships" id="267" r:id="R19828794c4c54084"/>
    <p:sldId xmlns:r="http://schemas.openxmlformats.org/officeDocument/2006/relationships" id="268" r:id="Re38212f78a564205"/>
    <p:sldId xmlns:r="http://schemas.openxmlformats.org/officeDocument/2006/relationships" id="269" r:id="Rbac8355922d841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8fcb06d124134" /><Relationship Type="http://schemas.openxmlformats.org/officeDocument/2006/relationships/slideMaster" Target="/ppt/slideMasters/slideMaster1.xml" Id="R430f277573714cb3" /><Relationship Type="http://schemas.openxmlformats.org/officeDocument/2006/relationships/notesMaster" Target="/ppt/notesMasters/notesMaster1.xml" Id="R85b36464270048d8" /><Relationship Type="http://schemas.openxmlformats.org/officeDocument/2006/relationships/presProps" Target="/ppt/presProps.xml" Id="R78470f0468344a0d" /><Relationship Type="http://schemas.openxmlformats.org/officeDocument/2006/relationships/tableStyles" Target="/ppt/tableStyles.xml" Id="Ra1e0c45ff4614bc7" /><Relationship Type="http://schemas.openxmlformats.org/officeDocument/2006/relationships/slide" Target="/ppt/slides/slide1.xml" Id="Rbe500f59399548cc" /><Relationship Type="http://schemas.openxmlformats.org/officeDocument/2006/relationships/slide" Target="/ppt/slides/slide2.xml" Id="R29626c531b90440d" /><Relationship Type="http://schemas.openxmlformats.org/officeDocument/2006/relationships/slide" Target="/ppt/slides/slide3.xml" Id="Rfb094b90f2cb4637" /><Relationship Type="http://schemas.openxmlformats.org/officeDocument/2006/relationships/slide" Target="/ppt/slides/slide4.xml" Id="R123e0af437234977" /><Relationship Type="http://schemas.openxmlformats.org/officeDocument/2006/relationships/slide" Target="/ppt/slides/slide5.xml" Id="Ra9ec1040a79c4040" /><Relationship Type="http://schemas.openxmlformats.org/officeDocument/2006/relationships/slide" Target="/ppt/slides/slide6.xml" Id="Ra9f6a17ed9e04ff3" /><Relationship Type="http://schemas.openxmlformats.org/officeDocument/2006/relationships/slide" Target="/ppt/slides/slide7.xml" Id="R22c57b10ffef4bc3" /><Relationship Type="http://schemas.openxmlformats.org/officeDocument/2006/relationships/slide" Target="/ppt/slides/slide8.xml" Id="Rb80fb8c73a794f5a" /><Relationship Type="http://schemas.openxmlformats.org/officeDocument/2006/relationships/slide" Target="/ppt/slides/slide9.xml" Id="R7f9d764513b24c53" /><Relationship Type="http://schemas.openxmlformats.org/officeDocument/2006/relationships/slide" Target="/ppt/slides/slide10.xml" Id="Rd49c863c0239448e" /><Relationship Type="http://schemas.openxmlformats.org/officeDocument/2006/relationships/slide" Target="/ppt/slides/slide11.xml" Id="Rc038a8386d7042f6" /><Relationship Type="http://schemas.openxmlformats.org/officeDocument/2006/relationships/slide" Target="/ppt/slides/slide12.xml" Id="R19828794c4c54084" /><Relationship Type="http://schemas.openxmlformats.org/officeDocument/2006/relationships/slide" Target="/ppt/slides/slide13.xml" Id="Re38212f78a564205" /><Relationship Type="http://schemas.openxmlformats.org/officeDocument/2006/relationships/slide" Target="/ppt/slides/slide14.xml" Id="Rbac8355922d8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7ab1ba01647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80cb86050f4229" /><Relationship Type="http://schemas.openxmlformats.org/officeDocument/2006/relationships/notesMaster" Target="/ppt/notesMasters/notesMaster1.xml" Id="Ra1eab01e654b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3ba2c52e04577" /><Relationship Type="http://schemas.openxmlformats.org/officeDocument/2006/relationships/notesMaster" Target="/ppt/notesMasters/notesMaster1.xml" Id="Rda261db48b88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546c969d04f97" /><Relationship Type="http://schemas.openxmlformats.org/officeDocument/2006/relationships/notesMaster" Target="/ppt/notesMasters/notesMaster1.xml" Id="Rc8f36244969d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e7078d310f4791" /><Relationship Type="http://schemas.openxmlformats.org/officeDocument/2006/relationships/notesMaster" Target="/ppt/notesMasters/notesMaster1.xml" Id="Rcda2d7288cb6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f6a996d9f402c" /><Relationship Type="http://schemas.openxmlformats.org/officeDocument/2006/relationships/notesMaster" Target="/ppt/notesMasters/notesMaster1.xml" Id="R9bd5bd7bd0c9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4a9886a7242f2" /><Relationship Type="http://schemas.openxmlformats.org/officeDocument/2006/relationships/notesMaster" Target="/ppt/notesMasters/notesMaster1.xml" Id="R82cfc3d8eefd4b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84ada4faf4b19" /><Relationship Type="http://schemas.openxmlformats.org/officeDocument/2006/relationships/notesMaster" Target="/ppt/notesMasters/notesMaster1.xml" Id="R7889a266ec8d47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8d0f16a12e41e3" /><Relationship Type="http://schemas.openxmlformats.org/officeDocument/2006/relationships/notesMaster" Target="/ppt/notesMasters/notesMaster1.xml" Id="R74d798881459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4eca6c69904a91" /><Relationship Type="http://schemas.openxmlformats.org/officeDocument/2006/relationships/notesMaster" Target="/ppt/notesMasters/notesMaster1.xml" Id="Rfac2e1f1c3644f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65edd742754375" /><Relationship Type="http://schemas.openxmlformats.org/officeDocument/2006/relationships/notesMaster" Target="/ppt/notesMasters/notesMaster1.xml" Id="R041ed9f195b743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01a7512772472f" /><Relationship Type="http://schemas.openxmlformats.org/officeDocument/2006/relationships/notesMaster" Target="/ppt/notesMasters/notesMaster1.xml" Id="R22e557e9251842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c56d851de84761" /><Relationship Type="http://schemas.openxmlformats.org/officeDocument/2006/relationships/notesMaster" Target="/ppt/notesMasters/notesMaster1.xml" Id="Rd74f0dedb9fd4f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38ca29bd144bde" /><Relationship Type="http://schemas.openxmlformats.org/officeDocument/2006/relationships/notesMaster" Target="/ppt/notesMasters/notesMaster1.xml" Id="R5a05162d7a654c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5eb28eff024f02" /><Relationship Type="http://schemas.openxmlformats.org/officeDocument/2006/relationships/notesMaster" Target="/ppt/notesMasters/notesMaster1.xml" Id="Rd459fc0a88b2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Buenos días. Presentamos el Expediente de Proceso de la Unidad I de HELA. La defensa se organiza alrededor de una tesis: una afirmación solo es sostenible cuando conduce a una evidencia que un tercero puede abrir. El corte corresponde al develop oficial al 20 de octubre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Expediente final; repositorio Alex-Jeanpier-Chata/is-2026-nexo.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Unidad I se construyó progresivamente. S01 estableció el marco; S02 el ciclo, contrato y rebanada; S03 los acuerdos; S04 las métricas; S05 no fue dictada; S06 y S07 registraron el Sprint 1; S08 consolidó evidencia. Esta secuencia evita presentar una simple acumulación de archivos.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Guía principal S08; tabla semanal del expediente.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Adoptamos un ciclo iterativo-incremental. CU-06 atraviesa contrato, ruta, controlador, servicio, repositorio y prueba. El PR #8 estableció la rebanada y el PR #40 reforzó el contrato. La vigencia funcional permanece abierta en el Issue #6. El alcance es el endpoint, no todo HELA.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OpenAPI v0.2.1; PR #8; PR #40; Issue #6.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DoR reduce ambigüedad antes de iniciar. La DoD separa publicación de terminación acreditada. En S08 la plantilla incorporó una comprobación estandarizada. La primera muestra de AM-01 es 1/1, pero el Issue #32 sigue abierto porque aún no existe base suficiente para generalizar.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Paquete de acuerdos S03; guía de contribución; Issue #32; verificación AM-01.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aplicó una ventana de 21 días en S04 y S08. En S08 hubo cinco PR, 32 horas de promedio, 0,5 horas de mediana y 1,67 integraciones semanales hacia develop. Son métricas del flujo de Git; no son despliegues ni esfuerzo efectivo.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Dashboard S08; metricas_s04_raw.json; metricas_raw.json; PR #41.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 #35 concentra casi todo el tiempo de la muestra, con 158,3 horas. Por eso el promedio de 32 horas no representa el caso típico y se acompaña con una mediana de 0,5 horas. Con cinco observaciones no afirmamos mejora sostenida ni causalidad.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Dashboard S08; PR #26, #35, #36, #38 y #40.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reportes trabajan con un subconjunto regularizado de 11 puntos. En ambos cortes, cero puntos tenían DoD acreditado. Esto no niega el trabajo; separa publicación y terminación. Como no existe historial diario suficiente, mostramos dos cortes documentales y no inventamos una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Reportes S06–S07; Issues #22, #23, #25; PR #26.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DT-01 identificó validaciones incompletas y DT-03 cobertura negativa insuficiente. El PR #40 integró ambos cambios con trece pruebas aprobadas. Los Issues #28 y #30 continúan abiertos porque falta reconciliar criterios y revisión formal con el DoD. La implementación existe; el cierre documental todavía 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Catálogo S06; PR #40; Issues #28, #29 y #30.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muestra trece pruebas aprobadas y cero fallidas. Cubre el caso válido y entradas inválidas de CU-06. Su alcance es la ejecución local registrada: no equivale a cobertura integral del producto ni a una canalización CI operativa.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Captura real de npm test asociada al PR #40.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AM-01 estandariza evidencia DoD y conserva una primera muestra. AM-02 entra en S10–S11 con meta de revisión dentro de 48 horas. AM-03 verificó que la decisión pendiente estuviera registrada, 1/1. Esto no resuelve la regla funcional de vigencia.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Plan S07; Issues #32, #33, #34 y #6; verificaciones AM-01 y AM-03.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prepara cinco condiciones de entrada y catorce resultados del perfil básico. No asigna conformidad, madurez ni capacidad. Hay evidencia útil, pero también límites: no se localizó factibilidad previa, no hay aceptación auténtica de cliente y el producto completo no está integrado.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ISO/IEC 29110-5-1-2:2025, cláusulas 5.2, 6.2 y 7.2; matriz S08.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sección 6 permanece intencionalmente en blanco. Una auditoría debe ser sistemática, independiente y documentada. El equipo no reemplaza al auditor ni fabrica firmas o estados. Cuando exista un registro auténtico, se incorporará sin reescribir su valoración.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ISO/IEC TR 29110-1:2016, definición 3.7; guía práctica S08.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semana se conecta con su pieza y su registro. La contribución distingue autoría de PR, asignación de Issue y responsabilidad de seguimiento. Así un evaluador puede abrir la evidencia y comprobar qué existe, cuándo se integró y qué límite conserva.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Inventario semanal; tabla de contribución; historial público de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Unidad I deja cuatro resultados defendibles: ciclo documentado, acuerdos conectados con plantillas, medición reproducible y CU-06 con trece pruebas locales aprobadas. Los límites también están trazados. La continuidad parte de un expediente navegable y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Expediente final; PR #40, #41 y #42; Issues #6 y #28–#33.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336f007d647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3c9763ee54c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933259b5d44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a938ded1043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9f26ddd0c4a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9d94d149c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CE25D3-7728-44C4-A66C-E9A934A8B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4847E6-2B4C-4198-8DC0-2E624EC568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EFF619-938C-4571-BDF6-D8FCEAFD7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003E5-AC51-40EB-B087-BAA4DEA8B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631537-423B-4EE2-9F9B-3355A52909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BD305B-AF8C-489F-B150-20AEC20A6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8A5312-D196-4BDE-AA23-C5EA5F052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AC0EF8-EB78-4D7B-8336-C513C31B9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DABE48-3D9C-4009-99D0-BCF6815741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B758E-E89F-4FAF-9F1B-11FB600DEE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547e9bb094b03" /><Relationship Type="http://schemas.openxmlformats.org/officeDocument/2006/relationships/slideLayout" Target="/ppt/slideLayouts/slideLayout1.xml" Id="Rbed509ce90f74625" /><Relationship Type="http://schemas.openxmlformats.org/officeDocument/2006/relationships/slideLayout" Target="/ppt/slideLayouts/slideLayout2.xml" Id="Ra0403be7d72f4d36" /><Relationship Type="http://schemas.openxmlformats.org/officeDocument/2006/relationships/slideLayout" Target="/ppt/slideLayouts/slideLayout3.xml" Id="Rf113d9699f704507" /><Relationship Type="http://schemas.openxmlformats.org/officeDocument/2006/relationships/slideLayout" Target="/ppt/slideLayouts/slideLayout4.xml" Id="Ra3b822c1066c4277" /><Relationship Type="http://schemas.openxmlformats.org/officeDocument/2006/relationships/slideLayout" Target="/ppt/slideLayouts/slideLayout5.xml" Id="Rab39663f1b5e4ff2" /><Relationship Type="http://schemas.openxmlformats.org/officeDocument/2006/relationships/slideLayout" Target="/ppt/slideLayouts/slideLayout6.xml" Id="R83f007f9657e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509ce90f74625"/>
    <p:sldLayoutId xmlns:r="http://schemas.openxmlformats.org/officeDocument/2006/relationships" id="2147483650" r:id="Ra0403be7d72f4d36"/>
    <p:sldLayoutId xmlns:r="http://schemas.openxmlformats.org/officeDocument/2006/relationships" id="2147483651" r:id="Rf113d9699f704507"/>
    <p:sldLayoutId xmlns:r="http://schemas.openxmlformats.org/officeDocument/2006/relationships" id="2147483652" r:id="Ra3b822c1066c4277"/>
    <p:sldLayoutId xmlns:r="http://schemas.openxmlformats.org/officeDocument/2006/relationships" id="2147483653" r:id="Rab39663f1b5e4ff2"/>
    <p:sldLayoutId xmlns:r="http://schemas.openxmlformats.org/officeDocument/2006/relationships" id="2147483654" r:id="R83f007f9657e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551eaf47d4763" /><Relationship Type="http://schemas.openxmlformats.org/officeDocument/2006/relationships/image" Target="/ppt/media/image.png" Id="Rba33993343ea402a" /><Relationship Type="http://schemas.openxmlformats.org/officeDocument/2006/relationships/notesSlide" Target="/ppt/notesSlides/notesSlide1.xml" Id="R10f819e4172946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5f8df4e884117" /><Relationship Type="http://schemas.openxmlformats.org/officeDocument/2006/relationships/notesSlide" Target="/ppt/notesSlides/notesSlide2.xml" Id="R30cb52d03fd7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94819b09d4bd1" /><Relationship Type="http://schemas.openxmlformats.org/officeDocument/2006/relationships/notesSlide" Target="/ppt/notesSlides/notesSlide3.xml" Id="R0905642e58ec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9c830433c4f7e" /><Relationship Type="http://schemas.openxmlformats.org/officeDocument/2006/relationships/notesSlide" Target="/ppt/notesSlides/notesSlide4.xml" Id="R10a983a400f444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c22112a384088" /><Relationship Type="http://schemas.openxmlformats.org/officeDocument/2006/relationships/chart" Target="/ppt/slides/charts/chart1.xml" Id="Rcd28b458df084bfa" /><Relationship Type="http://schemas.openxmlformats.org/officeDocument/2006/relationships/notesSlide" Target="/ppt/notesSlides/notesSlide5.xml" Id="R733cc88518fb41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d889b0ccc43de" /><Relationship Type="http://schemas.openxmlformats.org/officeDocument/2006/relationships/chart" Target="/ppt/slides/charts/chart2.xml" Id="R47c90a0e65154382" /><Relationship Type="http://schemas.openxmlformats.org/officeDocument/2006/relationships/notesSlide" Target="/ppt/notesSlides/notesSlide6.xml" Id="R2b81a5ae07e74e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240c94fb2498f" /><Relationship Type="http://schemas.openxmlformats.org/officeDocument/2006/relationships/notesSlide" Target="/ppt/notesSlides/notesSlide7.xml" Id="Rb279f09c9f634d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3d904fde84751" /><Relationship Type="http://schemas.openxmlformats.org/officeDocument/2006/relationships/notesSlide" Target="/ppt/notesSlides/notesSlide8.xml" Id="Rdfdcfa45e3d947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d94545e3c4c62" /><Relationship Type="http://schemas.openxmlformats.org/officeDocument/2006/relationships/image" Target="/ppt/media/image2.png" Id="R4c564d8558a74ed8" /><Relationship Type="http://schemas.openxmlformats.org/officeDocument/2006/relationships/notesSlide" Target="/ppt/notesSlides/notesSlide9.xml" Id="R2cb4e09e73c047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e2f5615024a51" /><Relationship Type="http://schemas.openxmlformats.org/officeDocument/2006/relationships/notesSlide" Target="/ppt/notesSlides/notesSlide10.xml" Id="R29c7ea70f1ed4a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863d2236f41ca" /><Relationship Type="http://schemas.openxmlformats.org/officeDocument/2006/relationships/notesSlide" Target="/ppt/notesSlides/notesSlide11.xml" Id="Rfa5ad4290ebd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235f5173048ae" /><Relationship Type="http://schemas.openxmlformats.org/officeDocument/2006/relationships/notesSlide" Target="/ppt/notesSlides/notesSlide12.xml" Id="Raee9b1196e1e4b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dcd6d954e4adc" /><Relationship Type="http://schemas.openxmlformats.org/officeDocument/2006/relationships/notesSlide" Target="/ppt/notesSlides/notesSlide13.xml" Id="R2f67b75d7380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54bbfd82341d1" /><Relationship Type="http://schemas.openxmlformats.org/officeDocument/2006/relationships/notesSlide" Target="/ppt/notesSlides/notesSlide14.xml" Id="Rd496be7819ce41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S04</c:v>
          </c:tx>
          <c:spPr>
            <a:solidFill xmlns:a="http://schemas.openxmlformats.org/drawingml/2006/main">
              <a:srgbClr val="1732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Promedio (h)</c:v>
                </c:pt>
                <c:pt idx="1">
                  <c:v>Mediana (h)</c:v>
                </c:pt>
                <c:pt idx="2">
                  <c:v>Integraciones develop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40.8</c:v>
                </c:pt>
                <c:pt idx="1">
                  <c:v>0.7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v>S08</c:v>
          </c:tx>
          <c:spPr>
            <a:solidFill xmlns:a="http://schemas.openxmlformats.org/drawingml/2006/main">
              <a:srgbClr val="8B1E2D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Promedio (h)</c:v>
                </c:pt>
                <c:pt idx="1">
                  <c:v>Mediana (h)</c:v>
                </c:pt>
                <c:pt idx="2">
                  <c:v>Integraciones develop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32</c:v>
                </c:pt>
                <c:pt idx="1">
                  <c:v>0.5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C78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BFCFD"/>
    </a:solidFill>
    <a:ln xmlns:a="http://schemas.openxmlformats.org/drawingml/2006/main" w="9525">
      <a:solidFill>
        <a:srgbClr val="D9E2E8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Horas</c:v>
          </c:tx>
          <c:spPr>
            <a:solidFill xmlns:a="http://schemas.openxmlformats.org/drawingml/2006/main">
              <a:srgbClr val="8B1E2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#26</c:v>
                </c:pt>
                <c:pt idx="1">
                  <c:v>#35</c:v>
                </c:pt>
                <c:pt idx="2">
                  <c:v>#36</c:v>
                </c:pt>
                <c:pt idx="3">
                  <c:v>#38</c:v>
                </c:pt>
                <c:pt idx="4">
                  <c:v>#40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0.2</c:v>
                </c:pt>
                <c:pt idx="1">
                  <c:v>158.3</c:v>
                </c:pt>
                <c:pt idx="2">
                  <c:v>0.1</c:v>
                </c:pt>
                <c:pt idx="3">
                  <c:v>0.7</c:v>
                </c:pt>
                <c:pt idx="4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BFCF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8B474-0D0F-468B-9119-9F63AB1C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63A0-A644-4D6C-91DA-29FAE419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1390-CBC0-4085-9797-00A63179B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3993343ea402a"/>
          <a:stretch xmlns:a="http://schemas.openxmlformats.org/drawingml/2006/main"/>
        </p:blipFill>
        <p:spPr>
          <a:xfrm xmlns:a="http://schemas.openxmlformats.org/drawingml/2006/main">
            <a:off x="8667750" y="683735"/>
            <a:ext cx="2000250" cy="22520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4D4DC-138F-4FFC-A8DC-D086718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UNIDAD I · SEMANA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CB5DE-0D12-48B0-8E30-E2EC1513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Expediente de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Proceso HELA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2120E-55B8-4724-B193-F6AD546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Del proceso declarado al proceso demostrado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27EDD-B1EE-4581-BE9D-29AF40AB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EQUIPO NEXO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6B9C6-A0B0-4AA1-94FB-003DD1E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Ingeniería de Software I · 2026-II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E3442-F9A0-4146-9D56-CEC4CEED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FC1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1CF"/>
                </a:solidFill>
                <a:latin typeface="Arial"/>
                <a:ea typeface="Arial"/>
                <a:cs typeface="Arial"/>
              </a:rPr>
              <a:t>Corte verificable: develop · 20 oct 2026</a:t>
            </a:r>
          </a:p>
        </p:txBody>
      </p:sp>
    </p:spTree>
    <p:extLst>
      <p:ext uri="{BB962C8B-B14F-4D97-AF65-F5344CB8AC3E}">
        <p14:creationId xmlns:p14="http://schemas.microsoft.com/office/powerpoint/2010/main" val="353536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D3510-E955-48A5-9219-AD747FA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BBDEA-1FB5-4959-B535-009B2E7C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EVOLUCIÓN DEL PROCESO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040E8-5746-422C-A587-563FBCB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Ruta de evidencia S01–S08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E73B7-9C77-4376-8C2C-09A65983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CDE52-38D2-403B-8438-F66EA1D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74054-08B5-417D-BE3D-3CAF7EAD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B49A7-110B-4F96-B602-0155FE9BC3E4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00250"/>
                <a:gridCol w="4191000"/>
              </a:tblGrid>
              <a:tr h="511969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Foco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 verificable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S01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Constitución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Acta y línea base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S02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Ciclo + CU-06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OpenAPI, SAD, PR #8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S03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Acuerdos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DoR, DoD y guía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S04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Medición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Script y panel inicial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No dictada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No corresponde producto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S06–S07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Sprint 1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Seguimiento, deuda y mejora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S08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Consolidación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PR #40, #41 y #42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AF83E-00CE-456F-B7DF-D9C98BF5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352800" cy="40957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B5ECB-2F15-4D26-B998-E2C5B1D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62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Lectura clave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759AE-D6B1-45BC-8840-DC8391A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E613A-7A03-45A7-B20E-C2FE429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S05 se declara; no se rellena.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CFB0-2939-466C-BE5D-8897260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2CE41-587B-455E-BBAE-AFC1180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004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S08 y S09 no conforman un Sprint.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9F12F-1833-4C73-8500-AF54C79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B46FC-658E-4D48-8DF9-4D9CC75C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Cada semana conduce a una pieza fechada.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7CA2-5BB3-46CE-97FB-78A6273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286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Índice canónico S08</a:t>
            </a:r>
          </a:p>
        </p:txBody>
      </p:sp>
    </p:spTree>
    <p:extLst>
      <p:ext uri="{BB962C8B-B14F-4D97-AF65-F5344CB8AC3E}">
        <p14:creationId xmlns:p14="http://schemas.microsoft.com/office/powerpoint/2010/main" val="589314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355451-3B76-4C9A-ADDA-D381513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97523-6E39-41BA-8695-5686E49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MARCO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1E52F-5562-4B49-B002-F1FB04DE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Ciclo iterativo-incremental y CU-06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3B753-8A1C-40E0-A3B7-69E2069E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1507-1FA2-41CD-8CD9-5D016F50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E1EEF-1AA3-4725-B142-BF3A03B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28883-08CF-4B82-9538-32478EA2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1905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AAAD8-2D2A-4117-8BCB-601A993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4962-4FC3-4268-A085-1B068258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OpenAPI v0.2.1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3342D-AEE1-4511-B566-63D86A67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AD18E-A245-4FA5-A0E3-09F0FB73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2282A-76C4-469D-8FBF-4758FF2A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Ruta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F327F-EBCE-4807-8AF6-A99CE5A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 /pedidos-temporales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BE9BF-C96A-4484-8BBD-D5EE5B85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4A613-76FB-4170-BC80-3B1DAB6D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D366F-5D9B-47DF-9E7C-4FBE700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867E0-32BA-461D-8CA1-8B61B6F5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Controlador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3A489-6360-4161-94CD-801F731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38F7D-FB1D-4548-A3E8-DC37F8E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808AF-2F99-48AC-8D9B-A2935C3E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Regla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97A3B-9952-4E66-8464-2ABC713F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Servicio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9FE68-9B9A-45B5-A5F0-9695A594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A8071-EB35-4482-BB8B-3E47721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81F9D-D93E-4195-8788-FA09B0CC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A2626-46C6-4815-91D7-124FD6BC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Repositorio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05F3E-9D6E-499F-AA55-5AEBD6E0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E64F9-7266-4998-9174-EFCCB6E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193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19050">
            <a:solidFill>
              <a:srgbClr val="C8A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0037B-57CE-4B25-A4DC-3AB892E3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717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91FDF-BD91-442E-A27E-A4B16DB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955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HTTP 201 / 400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B038E-1AFF-4D72-A3D8-1071E0E2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C216E-1834-4CD8-A255-A43EE66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619F3E-4F68-4D0C-B06E-417B2CBC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 #8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FB167-1698-491F-9478-E076610F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rebanada inicial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0AE87-47B5-469D-BE2F-1D0FEAD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2AC44-F6B6-4A5B-9F27-5249813D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FB0442-B656-4C5E-88E3-01004CA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PR #40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EDD43F-112E-4B24-AC6D-079A17A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1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validaciones + pruebas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FE1427-0E12-40DA-B539-947C2996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FF3FC4-7BCE-4DCB-A03E-32DDDFC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0F386-8019-4B30-B8DA-21ACE32C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Issue #6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86118A-9434-4FF1-B612-3543169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vigencia funcional abierta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827176-9A1A-4673-87A6-45043D9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2E4885-587E-47FB-9D80-B8DBC39B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A7C10F-C3DB-4CB0-837A-102AEB2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55B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B7A880-33D4-4541-98FD-C2813A9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pruebas locales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E740C5-68B6-4427-8E35-28ABBF17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8801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Alcance defendible: un endpoint vertical verificable, no el producto HELA completo.</a:t>
            </a:r>
          </a:p>
        </p:txBody>
      </p:sp>
    </p:spTree>
    <p:extLst>
      <p:ext uri="{BB962C8B-B14F-4D97-AF65-F5344CB8AC3E}">
        <p14:creationId xmlns:p14="http://schemas.microsoft.com/office/powerpoint/2010/main" val="925866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2F374-5317-4AC3-8181-5D8B41D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555F1-0CCF-4937-B54B-578E6C4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ACUERDOS OPERATIVOS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39A2-003D-48AA-B1AF-6E8E493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DoR, DoD y configuración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793A7-799B-4DDA-A08F-726D223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7DE15-0214-4F99-98AA-15482DE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6044E-9639-427F-B5A8-D55982BA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AB0D8-C840-4E38-9A04-A3A2F22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4E915-595E-4BB9-9187-4A33FA7F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Definition of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2986F-72A3-4E50-8FD1-16AA761B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457E8-B9D1-43BC-851E-0FD315CB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Objetivo y alcance claros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1A806-9894-40F9-8962-77000439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3AEF9-6B98-4B3C-8559-CF6E544F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Criterios verificables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32A1A-A714-484E-AD19-8D8CB84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E23BA-FF9C-47EF-9042-43B0273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Referencias y dependencias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EB8E6-3D94-40A0-987A-044D769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8FEA7-7A07-4995-8F5B-7D44223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0075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Decisiones abiertas trazables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B51B3-F6C5-4392-BE7A-45A11D6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561975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E9217-03AF-41CF-9851-0B830320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Definition of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8B984-3661-4A58-BDDA-B79FCE38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AB9D3-1772-4DA6-A992-31116F0B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Coherencia con contrato y SAD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BECC3-EE3A-4C99-9A56-37256A4A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BEC98-65FD-404C-8ED4-CD1BF2E6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Pruebas satisfactorias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45215-4019-40E3-B166-B300BC6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A1B98-EDB1-4DB8-9E4D-C2C8A5EE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Trazabilidad en commits y PR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547A0-73F5-44DB-A955-5CD2A53E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3D3E9-98B5-4285-9EBC-7E0393C4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Revisión formal cuando corresponda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84169-8936-41BE-9E8B-3C5D559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AM-01 · primera muestra 1/1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6A5C2-5204-41AB-A1D3-8BF6BB44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1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Issue #32 abierto: la muestra aún no se generaliza</a:t>
            </a:r>
          </a:p>
        </p:txBody>
      </p:sp>
    </p:spTree>
    <p:extLst>
      <p:ext uri="{BB962C8B-B14F-4D97-AF65-F5344CB8AC3E}">
        <p14:creationId xmlns:p14="http://schemas.microsoft.com/office/powerpoint/2010/main" val="413642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49C5B-F464-4171-A35F-CE1757E2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A9D97-3C33-4C35-9E7E-642ECFB0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EVIDENCIA CUANTITATIVA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95F83-9388-4A3D-879E-A647A02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Panel de métricas: dos cortes comparables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05BEC-298F-4222-B2C0-2DBE6F6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3B96-4AEA-48C1-9700-D8E43E8C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0F984-4ABF-42E8-AA02-05C47982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0708D25-107E-4891-886F-9F9871C79028}"/>
              </a:ext>
            </a:extLst>
          </p:cNvPr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28b458df084bf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32AD6-F23F-41E3-8756-20157DF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676650" cy="3714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65FD9-5F8A-402B-BAB6-E09CC79C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Corte S08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048A-2F10-424E-89C5-7A2FF9A8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1428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E6DBF-A7AA-41B0-A9BC-A65D2C4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4943-8B31-43BC-9797-D3081A8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BA06C-6C02-4666-8823-028A4F73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PR fusionados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BE3CE-4E79-41E2-91DE-BDBFFDD1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428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B7F75-42D9-4208-8338-A73B84A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D13C9-5EB2-4FE1-BDF7-424D958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432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0,5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E5D70-7A7D-4ABA-A241-C0BBE84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38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mediana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FDE42-B044-41C5-9864-2E548937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BF74C-50C4-4777-A573-8B0E4F4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Ventana: 21 días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91F40-40BA-4C3D-9E31-4018A76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58909-AD51-4B69-AB10-9F8648E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develop: 1,67 / semana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4CF94-9B4E-4DD1-A4C1-5A16704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7CBCD-3530-4C6A-A3C0-6ED2F3DC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main: 0 / semana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78EC4-9C69-4B6B-8F78-692827E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6858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Integración ≠ despliegue productivo</a:t>
            </a:r>
          </a:p>
        </p:txBody>
      </p:sp>
    </p:spTree>
    <p:extLst>
      <p:ext uri="{BB962C8B-B14F-4D97-AF65-F5344CB8AC3E}">
        <p14:creationId xmlns:p14="http://schemas.microsoft.com/office/powerpoint/2010/main" val="1372583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3A50A-9147-40F8-8580-F576D936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BD959-9655-4B8E-B92B-4695254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LECTURA ESTADÍSTICA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2B600-3F57-4591-AA67-E05E32F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 promedio oculta un valor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9F512-D17B-4815-A26B-C630A7E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03BFB-5132-4AD0-B88C-8C09300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815B-2A33-46A0-BA07-0DA8CEC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2626753-49CF-4830-92D0-CCD1D9BF68F7}"/>
              </a:ext>
            </a:extLst>
          </p:cNvPr>
          <p:cNvGraphicFramePr/>
          <p:nvPr/>
        </p:nvGraphicFramePr>
        <p:xfrm>
          <a:off xmlns:a="http://schemas.openxmlformats.org/drawingml/2006/main" x="742950" y="17335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c90a0e6515438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61F8A-C333-4626-B719-0F1A45D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28750"/>
            <a:ext cx="687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Horas: #26 0,2 · #35 158,3 · #36 0,1 · #38 0,7 · #40 0,5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31D44-6CB2-4A7D-A2BE-BA031B8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383BA-C5E2-46AB-8150-8BD0F3D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22A19-353A-4283-909D-088745AA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32,0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2EF19-1007-4A66-B1D1-7F3CA260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promedio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47429-34C4-4AA1-BA97-D168030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C2393-01C8-4B25-A413-DF27BFC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F2EBA-26A3-4549-9B67-8F45B77B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0,5 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0C089-6B60-4037-8F2F-FB5C965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mediana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6297E-3A83-477F-835A-BADE83F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55B"/>
                </a:solidFill>
                <a:latin typeface="Arial"/>
                <a:ea typeface="Arial"/>
                <a:cs typeface="Arial"/>
              </a:rPr>
              <a:t>4 de 5 PR</a:t>
            </a:r>
          </a:p>
          <a:p xmlns:a="http://schemas.openxmlformats.org/drawingml/2006/main">
            <a:pPr algn="ctr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55B"/>
                </a:solidFill>
                <a:latin typeface="Arial"/>
                <a:ea typeface="Arial"/>
                <a:cs typeface="Arial"/>
              </a:rPr>
              <a:t>&lt; 1 hora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94668-C3FD-4B2A-8E03-A91C9FE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57875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 n=5 se describe la ventana; no se prueba una tendencia sostenida.</a:t>
            </a:r>
          </a:p>
        </p:txBody>
      </p:sp>
    </p:spTree>
    <p:extLst>
      <p:ext uri="{BB962C8B-B14F-4D97-AF65-F5344CB8AC3E}">
        <p14:creationId xmlns:p14="http://schemas.microsoft.com/office/powerpoint/2010/main" val="358982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8DD15C-21F5-41F7-A814-2B31F6D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2CA2D-264F-4FD9-8FCF-947017C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VELOCIDAD Y BURNDOWN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1B251-8BEC-4450-8FDA-16E2449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Sprint 1: medir sin reconstruir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052A2-4F68-4BBC-AE96-CE27DA5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D992B-B041-4C36-961F-2B2DC2E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FED17-96C7-410D-8F8C-D5C6A66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25EA6-FB30-42D9-9C1F-F43D2A00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D99E-049F-4F05-82BA-B928E99E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2C785-D114-42AD-A29F-78A280A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11 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42839-DF43-4B6A-8D14-9B7800B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subconjunto regularizado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93F1-B8DD-4687-AE26-2833801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DE7CF-108F-4DAA-923B-EE5E3CF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604AE-86C0-49E1-B655-CC332D89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0 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9B470-9B0E-4DD1-96E3-48142F31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DoD acreditado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267B0-1805-4675-BD7D-E0ABD43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5C92A-0E61-4E3E-B22C-E7921A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E398F-EBA0-4775-BE01-855BB7C0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83DF9-39B5-4639-B5A4-C1751A6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cortes documentales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177C8-BEB5-4FB4-AC1B-283EB5CF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1D275-6B74-4634-8E2E-817187D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7EB6E-560A-41F6-9759-EA4847D6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06715-F7EA-4A1D-BA6F-1CDEF24D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serie diaria disponible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C3BFB-9E9E-404F-B603-98DF685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0591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BEA0B-A496-4E48-AF06-39A2519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857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0B45F-1AD6-4E65-A89F-2796BF7D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12420-250B-490C-B97F-6592A27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A737F-06C9-4C83-ABBD-54BAD44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6C0FF4-8970-47ED-A997-868EA86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11 SP pendientes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A9A86-F228-4626-B515-E457967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S07 · 13/10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FDB00-2FB5-43BE-A5DC-F2010370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11 SP pendientes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8B0C09-DE84-485A-A420-8E8340D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Dos cortes ≠ burndown diario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8D7E2-B637-416E-B35C-342AAEB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15000"/>
            <a:ext cx="76962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Publicar un archivo no equivale a acreditar su DoD.</a:t>
            </a:r>
          </a:p>
        </p:txBody>
      </p:sp>
    </p:spTree>
    <p:extLst>
      <p:ext uri="{BB962C8B-B14F-4D97-AF65-F5344CB8AC3E}">
        <p14:creationId xmlns:p14="http://schemas.microsoft.com/office/powerpoint/2010/main" val="665079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F4B9FA-B363-455D-8E80-4056A9F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AED10-DDF1-4860-BFFB-3CEFFAC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TRATAMIENTO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1E093-F0F0-439C-AF06-D9B422A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Deuda técnica: implementación ≠ 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42F78-0711-48C3-A2F3-DF180DB6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4F775-9645-443B-85BB-78124112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723DE-0A01-4553-A2C6-CB6D1A3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8B96A-8C33-445E-8DAB-2D7B38F2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69694-37F7-4838-B14B-4F22DE51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DE1BA-7859-4674-B8AB-46F535F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Validaciones 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43BA6-DABB-43AE-9E72-CFFD0D4D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Implementado en PR #40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20B92-1E72-45B6-B5FD-4E5D696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0F463-ADE1-440A-8365-2B9DB43B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DT-02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66C2B-65E1-440A-A714-9679A0D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Exposición Express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8CDD6-2B6E-4E6E-A0D8-7143C7E7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Pendiente · Issue #29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E8B5D-F295-49EE-A5A4-EEEEAF8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A6D2D-C5EC-41DF-BF53-7916656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85686-2F54-4763-BD67-3AA70945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Pruebas negativas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43E7D-C047-446B-B3D3-802D104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13 casos en PR #40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7DD79-90D1-4F48-86C8-2A04EE9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906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7691E-5795-49AC-9730-E259DBD7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86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855B"/>
                </a:solidFill>
                <a:latin typeface="Arial"/>
                <a:ea typeface="Arial"/>
                <a:cs typeface="Arial"/>
              </a:rPr>
              <a:t>PR #40 fusionado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1FE3B-1852-4E94-8DE1-11DA5CD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13 aprobadas · 0 fallidas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938EC-C232-4E4B-BFAE-FBEDE73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Issues #28 y #30 abiertos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4E2FA-AE54-4CD7-B881-5EFD2CD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Falta reconciliar listas de aceptación y revisión formal con el DoD.</a:t>
            </a:r>
          </a:p>
        </p:txBody>
      </p:sp>
    </p:spTree>
    <p:extLst>
      <p:ext uri="{BB962C8B-B14F-4D97-AF65-F5344CB8AC3E}">
        <p14:creationId xmlns:p14="http://schemas.microsoft.com/office/powerpoint/2010/main" val="539066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AEAF6-0F78-4FBC-92F7-128C2FDB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57265-ACDE-467C-B233-9EB7FF58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EJECUCIÓN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2D9E0-E851-4E61-820D-77C4C31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Evidencia técnica: suite CU-06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CD5A4-7F5B-4923-94E1-9116E9FC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15E3E-7875-4100-9302-2B7CB3E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04775-DD32-4356-B73B-3669D5CA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E3603-F251-406B-8387-271DCE4D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810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51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37F3F-C619-47B6-8B02-F5E560151F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64d8558a74ed8"/>
          <a:stretch xmlns:a="http://schemas.openxmlformats.org/drawingml/2006/main"/>
        </p:blipFill>
        <p:spPr>
          <a:xfrm xmlns:a="http://schemas.openxmlformats.org/drawingml/2006/main">
            <a:off x="2053754" y="1828800"/>
            <a:ext cx="4922192" cy="3829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3F732-9F9A-43D5-9498-3CE0A4E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9545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05419-FE3B-4E73-88C8-F2096D8A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1785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855B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8F06A-07C2-48BB-A96D-B739F1EB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pruebas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D06F3-F78B-4F94-89BF-A1B217F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13A42-CF8E-4371-B05E-F041C24A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Caso válido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CB1E3-8E61-4688-B73B-802456D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E2DC9-649F-4BCF-AE47-872C0AC1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UUID y cantidades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6D532-B2EE-4EB0-ABF3-85E5EFC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12629-8595-402A-9C96-4FC12CD9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Límites de 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04C60-53C6-415F-A386-10F3B23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32575-922B-48AD-A9EC-A62CF78F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Opciones inválidas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C88DC-CA26-4F16-9DF0-3E98A36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590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Local · sin CI · sin cobertura total</a:t>
            </a:r>
          </a:p>
        </p:txBody>
      </p:sp>
    </p:spTree>
    <p:extLst>
      <p:ext uri="{BB962C8B-B14F-4D97-AF65-F5344CB8AC3E}">
        <p14:creationId xmlns:p14="http://schemas.microsoft.com/office/powerpoint/2010/main" val="954550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D016F-1BEE-43DC-90AE-B1D1879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007C4-03D3-4FF8-8837-C22EE37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GOBERNANZA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6045A-7E02-4D2C-8990-7D9DE188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Acciones de mejora con momento e indicador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B0309-1852-427B-8AA5-1239284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91401-D66A-42D6-A1D0-B64A5D71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0A3E2-41BF-4795-8D9E-A32A3B0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C585E-726E-4D3B-BDD9-17F11817902C}"/>
              </a:ext>
            </a:extLst>
          </p:cNvPr>
          <p:cNvGraphicFramePr/>
          <p:nvPr/>
        </p:nvGraphicFramePr>
        <p:xfrm>
          <a:off xmlns:a="http://schemas.openxmlformats.org/drawingml/2006/main" x="723900" y="1885950"/>
          <a:ext xmlns:a="http://schemas.openxmlformats.org/drawingml/2006/main" cx="107442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5429250"/>
                <a:gridCol w="3981450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Objetivo / indicador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verificable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AM-01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Cierres con DoD verificado / aplicables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1/1 inicial · #32 abierto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AM-02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≥90 % de PR revisados en &lt;48 h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S10–S11 · #33 abierto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AM-03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Decisiones pendientes trazables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1/1 verificado · #34 cerrado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D5C0C-5720-449D-B64E-A18A416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7442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32D1F-B8B3-4CC2-AB02-D8E79BE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AM-03 controla visibilidad; no resuelve la vigencia QR.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B0713-73BA-4A7C-9C02-C2E09026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El Issue #6 permanece abierto y asignado.</a:t>
            </a:r>
          </a:p>
        </p:txBody>
      </p:sp>
    </p:spTree>
    <p:extLst>
      <p:ext uri="{BB962C8B-B14F-4D97-AF65-F5344CB8AC3E}">
        <p14:creationId xmlns:p14="http://schemas.microsoft.com/office/powerpoint/2010/main" val="57482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066B7-5E46-44F3-9B8F-482E35F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D12BD-24B8-40BA-9DEF-6D7DAC1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PREPARACIÓN DE AUDITORÍA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AD46B-174E-4DF9-B248-0CEB00B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ISO/IEC 29110: inventario, no certificación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005D1-7F1D-4C04-B145-FD191DBA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11201-F3AF-468A-85C7-FB15AA7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43695-79A0-4B15-94D3-62404276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5445-4A8B-4F56-A82B-C9D80B81C018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Condición de entrada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/ límite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Acuerdo y línea base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Acta interna y etiquetas; sin aprobación de cliente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Factibilidad previa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No se localizó estudio previo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Equipo designado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Cuatro integrantes; formación no registrada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Ciclo documentado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Informe S02 iterativo-incremental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Infraestructura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C2733"/>
                          </a:solidFill>
                          <a:latin typeface="Arial"/>
                          <a:ea typeface="Arial"/>
                          <a:cs typeface="Arial"/>
                        </a:rPr>
                        <a:t>Repositorio, Node.js, OpenAPI y prueba CU-06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D9E2E8"/>
                      </a:solidFill>
                      <a:prstDash val="solid"/>
                    </a:lnR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B5D54-0B91-42AF-899C-EA98B0F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676650" cy="3714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9F3C5-4F79-4983-95F1-98C23BE6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14 resultados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16CEC-804A-4836-90B7-CBF0ABB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647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PM.O1–PM.O7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A9B5D-1920-4365-BC5D-5543233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647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SI.O1–SI.O7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02EDF-8B75-4F0D-9BA8-53FE6CF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C5CDC-8EC3-4A65-B393-0522714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Sin porcentaje de conformidad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2F5AB-DBAE-4FE6-8818-7FC0BD8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7FDD6-93E9-4433-A7C1-39B5D71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Sin nivel de madurez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5D2B2-5CC2-4C1A-AE04-258C4183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5B7C9-6385-4867-B28D-8713A6F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Sin certificación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00A4E-4288-4EB4-BEF3-C171ADC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La valoración externa requiere evidencia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1655118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DCAD6-0759-442C-86FF-1924F2A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DBFB6-112D-43DA-B709-15B34168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INDEPENDENCIA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FD4E-34CB-4C49-9D10-F9D78E5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Auditoría cruzada: espacio reservado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C028C-24AA-42DA-941F-71812DA4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30785-8A3C-4E14-BD6C-5FCF03B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3411C-2086-4F48-9539-4CAF2F6F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7462-62EB-495D-9BFC-7D5754B7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1905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033C6-8C76-4652-AF15-5EDACE7C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104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A2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B698D-AF98-4225-8A1C-B7514DA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Auditoría cruzada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C1987-5B37-4927-AD51-D3D4D2C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La sección contiene solo el título y el espacio para el registro auténtico.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7A069-6DB2-4BCB-85EB-10ACA68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sistemática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FAF31-3A1B-49D9-B472-A1C01996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624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01961-02BB-4A8D-9F94-6B2AB6F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8A24A"/>
          </a:solidFill>
          <a:ln xmlns:a="http://schemas.openxmlformats.org/drawingml/2006/main" w="9525">
            <a:solidFill>
              <a:srgbClr val="C8A2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documentada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9F895-4EA5-485C-8C53-BC04FE5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6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No se inventan auditores, firmas, estados ni desacuerdos.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8584C-C6C9-4FB1-845A-4B46DF0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 vacío controlado es una decisión de integridad documental.</a:t>
            </a:r>
          </a:p>
        </p:txBody>
      </p:sp>
    </p:spTree>
    <p:extLst>
      <p:ext uri="{BB962C8B-B14F-4D97-AF65-F5344CB8AC3E}">
        <p14:creationId xmlns:p14="http://schemas.microsoft.com/office/powerpoint/2010/main" val="4832408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BEFCC-D91E-4829-9A83-8C6CFB9D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CD685-5CC2-4865-91A9-EBC4864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TRAZABILIDAD Y CONTRIBUCIÓN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BA07E-D0A3-44EE-8192-4CD7C30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 la afirmación al registro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E729C-754A-4421-A9EE-75878897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2335-E19A-4FB3-8884-5E5AC8B6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529EE-CD65-4B90-82B8-AF388CD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1E492-7F49-498D-A608-BB0A253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23D93-F401-4DDB-B641-66C8310D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25AEA-9780-4C46-B506-B2DA9BEF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Afirmación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89AD-DF49-46B9-80BD-0A767AE2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Qué se sostiene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D6291-C78C-4926-B6CB-793388F0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4D505-EDCB-4311-8D4F-54AEE027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9D998-255F-423C-B9CD-C0176F5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39991-8774-44DA-979E-33A7371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Artefacto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80B43-15E1-4225-B86E-64C77C6C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Documento o código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E64B9-E543-40BC-B057-33C97647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B3BA2-147A-4F23-8163-069F778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E2C1A-79CE-46CB-A9E3-78BCBAC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DA203-B0A1-4FA8-97A2-181DEC2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69464-B61C-40D4-83EF-A8F25F8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Commit, PR o 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20B69-78AE-4B6D-83F9-F69AA0D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8A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A24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A19D5-D111-49A4-8D2B-221ACA03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7D703-F3B9-44D3-A07F-4EA53F11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A8666-CA87-4D0F-91CD-9200684D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Límite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1A24D-B020-49CD-8388-AA9C5FBB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Qué no demuestra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C6B76-A507-4411-B866-0624EC26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9715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D7630-C647-4773-8573-6CFEF86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Contribución verificable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DA87E-5B25-4CF0-AA9B-868C431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Autoría de PR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C1FDA-29E6-45CF-A1BA-6581E7E3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Asignación de Issue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E1CDF-0C5F-4CCB-9309-056BCA6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Responsabilidad de seguimiento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5D14B-5D67-48C4-B67B-E80F47F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No se atribuyen reuniones ni revisiones personales sin soporte.</a:t>
            </a:r>
          </a:p>
        </p:txBody>
      </p:sp>
    </p:spTree>
    <p:extLst>
      <p:ext uri="{BB962C8B-B14F-4D97-AF65-F5344CB8AC3E}">
        <p14:creationId xmlns:p14="http://schemas.microsoft.com/office/powerpoint/2010/main" val="1200530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7D5AD-9962-4213-88D9-98E97E8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CCAB2-DA3F-45D1-BA87-C6E5C23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0AACA-7A7F-4BDE-90E1-A5BAFDA2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Cierre: resultados defendibles y continuidad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F268A-CADC-44E3-86C8-1FC3FBA2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56F30-9EE2-4EA5-83A3-BF638225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CCB41-7DC9-41BE-B1A3-2B6E554F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6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C78"/>
                </a:solidFill>
                <a:latin typeface="Arial"/>
                <a:ea typeface="Arial"/>
                <a:cs typeface="Arial"/>
              </a:rPr>
              <a:t>HELA · Equipo Nexo · Unidad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634FB-2668-45F6-94AA-0470A45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14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0CC1-A0AB-49B2-9EE3-1BC4B615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99F4E-BB7B-4790-BA65-9341345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Proceso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8FAA4-8FA3-4DA3-89B3-BB5690E3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Ciclo iterativo-incremental documentado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FB5B2-B3B5-4CFE-9A25-1765035D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514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8832F-E1FA-4F96-9E85-3072076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694DD-2B87-46E9-8683-A09860F3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Gobernanza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77444-437A-4D1A-AA8E-BBBB9238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DoR/DoD conectados con plantillas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02600-A914-4767-93C3-B0D15D52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514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99506-9DA0-4E48-95C8-CE215926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3A757-96BC-4DA3-86D1-1FF3FCF6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D5549-AFE5-47E1-B6AD-78A06E8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Dos ventanas reproducibles de 21 días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2724E-9DA5-4DED-9EF5-2D1816BA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514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0C8DF-77E9-40DA-BE0A-2EFAD05F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2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600C5-BC4D-47DF-8B54-8D8C8F6F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E7A19-2EA3-4F4B-8E1D-00818D08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CU-06 con 13 pruebas locales aprobadas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A43DA-9C57-426A-8342-D4EDCA3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Siguiente evidencia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D3DE6-16D6-47DA-BDB1-E303A299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00650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C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733"/>
                </a:solidFill>
                <a:latin typeface="Arial"/>
                <a:ea typeface="Arial"/>
                <a:cs typeface="Arial"/>
              </a:rPr>
              <a:t>auditoría auténtica · decisión QR · cierre DoD · AM-02 · CI · métricas productivas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32B8A-F316-4971-94F9-D22F3379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ADB38-B75E-4052-BCA1-DAFE07D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HELA continúa desde un expediente navegable, no desde una memoria informal.</a:t>
            </a:r>
          </a:p>
        </p:txBody>
      </p:sp>
    </p:spTree>
    <p:extLst>
      <p:ext uri="{BB962C8B-B14F-4D97-AF65-F5344CB8AC3E}">
        <p14:creationId xmlns:p14="http://schemas.microsoft.com/office/powerpoint/2010/main" val="1941208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2026-10-20T20:09:14.7740000Z</dcterms:created>
  <dcterms:modified xsi:type="dcterms:W3CDTF">2026-10-20T20:09:14.7740000Z</dcterms:modified>
</coreProperties>
</file>